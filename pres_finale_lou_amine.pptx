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599D24-D45B-4035-B147-6672BBBAE261}">
  <a:tblStyle styleId="{57599D24-D45B-4035-B147-6672BBBAE26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Bonjour à tous blabla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9a68fe6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49a68fe6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Objectif de l’are : analyse de la performance sportive à l’aide d’outils relativement simples et accessibles (téléphone, ordi, programmation python…)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 méthodes d’analyse (expliquer le matériel nécessaire et leur fonctionnement): téléphone accéléromètre, caméra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 rapports: 1 sur le téléphone et 2 sur la caméra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9a68fe6f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9a68fe6f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lire.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9af9c3e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9af9c3e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diff : gauche : filtrage, droite : pas de filtrage.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9af9c3e2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9af9c3e2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9b9582f6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9b9582f6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méthode d’acquisition de la traj différente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9af9c3e2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9af9c3e2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9af9c3e2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9af9c3e2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méthode d’acquisition de la traj différente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9af9c3e2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9af9c3e2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9af9c3e2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9af9c3e2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9af9c3e2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9af9c3e2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9af9c3e2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49af9c3e2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148150" y="1453050"/>
            <a:ext cx="5078400" cy="149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4480"/>
              <a:t>Oral final d’ARE ESCAMECA</a:t>
            </a:r>
            <a:endParaRPr sz="44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492350" y="3734175"/>
            <a:ext cx="6159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Lou EOUZAN | Amine HADJ DAOUD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275" y="131425"/>
            <a:ext cx="285750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08925"/>
            <a:ext cx="71835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/>
              <a:t>Présentation de l’ARE ESCAMECA</a:t>
            </a:r>
            <a:endParaRPr sz="3600"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64" name="Google Shape;64;p14" title="CNRS_20230013_0012_6863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972" y="1214575"/>
            <a:ext cx="6428051" cy="361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0" y="108925"/>
            <a:ext cx="71835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/>
              <a:t>Sommaire</a:t>
            </a:r>
            <a:endParaRPr sz="3600"/>
          </a:p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311700" y="1556950"/>
            <a:ext cx="8520600" cy="25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fr" sz="2000"/>
              <a:t>Comparaison des rapports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fr" sz="2000"/>
              <a:t>Rapport 1: Méthode accéléromètre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fr" sz="2000"/>
              <a:t>Rapport 2: Méthode vidéo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fr" sz="2000"/>
              <a:t>Rapport 3: Peaufinage de la méthode vidéo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fr" sz="2000"/>
              <a:t>Conclusion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fr" sz="2000"/>
              <a:t>Ressenti sur l’ARE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fr" sz="2000"/>
              <a:t>Bibliographie</a:t>
            </a:r>
            <a:endParaRPr sz="2000"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ctrTitle"/>
          </p:nvPr>
        </p:nvSpPr>
        <p:spPr>
          <a:xfrm>
            <a:off x="311700" y="108925"/>
            <a:ext cx="71835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/>
              <a:t>Comparaison des rapports: Rapport 1</a:t>
            </a:r>
            <a:endParaRPr sz="3600"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8" name="Google Shape;78;p16" title="vitesse_montee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275" y="1341825"/>
            <a:ext cx="4092125" cy="301158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9" name="Google Shape;79;p16" title="outpu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0050" y="1374446"/>
            <a:ext cx="4092125" cy="294632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ctrTitle"/>
          </p:nvPr>
        </p:nvSpPr>
        <p:spPr>
          <a:xfrm>
            <a:off x="311700" y="108925"/>
            <a:ext cx="71835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/>
              <a:t>Comparaison des rapports: Rapport 1</a:t>
            </a:r>
            <a:endParaRPr sz="3600"/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aphicFrame>
        <p:nvGraphicFramePr>
          <p:cNvPr id="86" name="Google Shape;86;p17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{57599D24-D45B-4035-B147-6672BBBAE261}</a:tableStyleId>
              </a:tblPr>
              <a:tblGrid>
                <a:gridCol w="2370275"/>
                <a:gridCol w="245572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Amine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Lou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Temps de grimpe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43s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159.6s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Ratio escalade effective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81%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45.54%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Temps de chute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27.1s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Hauteur du mur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7.6 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Hauteur de la chute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1.6 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Vitesse maximale montée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1.3 m/s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Vitesse maximale chute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2.7 m/s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ctrTitle"/>
          </p:nvPr>
        </p:nvSpPr>
        <p:spPr>
          <a:xfrm>
            <a:off x="311700" y="108925"/>
            <a:ext cx="71835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/>
              <a:t>Comparaison des rapports: Rapport 2</a:t>
            </a:r>
            <a:endParaRPr sz="3600"/>
          </a:p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3" name="Google Shape;93;p18" title="WhatsApp_Video_2025-03-10_at_23.20.11-1.10.43.jpg"/>
          <p:cNvPicPr preferRelativeResize="0"/>
          <p:nvPr/>
        </p:nvPicPr>
        <p:blipFill rotWithShape="1">
          <a:blip r:embed="rId3">
            <a:alphaModFix/>
          </a:blip>
          <a:srcRect b="0" l="9485" r="0" t="1642"/>
          <a:stretch/>
        </p:blipFill>
        <p:spPr>
          <a:xfrm>
            <a:off x="1965588" y="901525"/>
            <a:ext cx="2012425" cy="38726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" name="Google Shape;94;p18" title="traj_monte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0413" y="1053925"/>
            <a:ext cx="4609189" cy="345689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ctrTitle"/>
          </p:nvPr>
        </p:nvSpPr>
        <p:spPr>
          <a:xfrm>
            <a:off x="311700" y="108925"/>
            <a:ext cx="71835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/>
              <a:t>Comparaison des rapports: Rapport 2</a:t>
            </a:r>
            <a:endParaRPr sz="3600"/>
          </a:p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aphicFrame>
        <p:nvGraphicFramePr>
          <p:cNvPr id="101" name="Google Shape;101;p19"/>
          <p:cNvGraphicFramePr/>
          <p:nvPr/>
        </p:nvGraphicFramePr>
        <p:xfrm>
          <a:off x="952500" y="90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{57599D24-D45B-4035-B147-6672BBBAE261}</a:tableStyleId>
              </a:tblPr>
              <a:tblGrid>
                <a:gridCol w="2370275"/>
                <a:gridCol w="2455725"/>
                <a:gridCol w="2413000"/>
              </a:tblGrid>
              <a:tr h="37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Amine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Lou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Temps de grimpe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70s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126s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Ratio escalade effective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59</a:t>
                      </a:r>
                      <a:r>
                        <a:rPr lang="fr"/>
                        <a:t>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43</a:t>
                      </a:r>
                      <a:r>
                        <a:rPr lang="fr"/>
                        <a:t>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Hauteur du mur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7.3 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9.7 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Vitesse maximale montée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1.9 m/s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0.4 m/s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Vitesse moyenne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0.20 m/s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0.08 m/s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Périmètre de l’enveloppe convexe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10.3 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15.8 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Longueur totale de la trajectoire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14.6 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34.1 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Indice Géométrique d’Entropie (GIE)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1.50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2.11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ctrTitle"/>
          </p:nvPr>
        </p:nvSpPr>
        <p:spPr>
          <a:xfrm>
            <a:off x="311700" y="108925"/>
            <a:ext cx="71835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/>
              <a:t>Comparaison des rapports: Rapport 3</a:t>
            </a:r>
            <a:endParaRPr sz="3600"/>
          </a:p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8" name="Google Shape;108;p20" title="WhatsApp_Video_2025-03-20_at_11.04.34-45.47.jpg"/>
          <p:cNvPicPr preferRelativeResize="0"/>
          <p:nvPr/>
        </p:nvPicPr>
        <p:blipFill rotWithShape="1">
          <a:blip r:embed="rId3">
            <a:alphaModFix/>
          </a:blip>
          <a:srcRect b="0" l="3993" r="3984" t="0"/>
          <a:stretch/>
        </p:blipFill>
        <p:spPr>
          <a:xfrm>
            <a:off x="1965588" y="901525"/>
            <a:ext cx="2012425" cy="38726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9" name="Google Shape;109;p20" title="20250408_19h42m37s_grim_modi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88" y="869263"/>
            <a:ext cx="2200869" cy="39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ctrTitle"/>
          </p:nvPr>
        </p:nvSpPr>
        <p:spPr>
          <a:xfrm>
            <a:off x="311700" y="108925"/>
            <a:ext cx="71835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/>
              <a:t>Comparaison des rapports: Rapport 3</a:t>
            </a:r>
            <a:endParaRPr sz="3600"/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aphicFrame>
        <p:nvGraphicFramePr>
          <p:cNvPr id="116" name="Google Shape;116;p21"/>
          <p:cNvGraphicFramePr/>
          <p:nvPr/>
        </p:nvGraphicFramePr>
        <p:xfrm>
          <a:off x="952500" y="90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{57599D24-D45B-4035-B147-6672BBBAE261}</a:tableStyleId>
              </a:tblPr>
              <a:tblGrid>
                <a:gridCol w="2370275"/>
                <a:gridCol w="2455725"/>
                <a:gridCol w="2413000"/>
              </a:tblGrid>
              <a:tr h="37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Amine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Lou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Temps de grimpe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45.5s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129.9s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Ratio escalade effective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75%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47%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Hauteur du mur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7.3 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9.3 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Vitesse maximale montée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2.2 m/s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0.4 m/s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Vitesse moyenne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0.27 m/s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0.08 m/s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Périmètre de l’enveloppe convexe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9.3 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8.1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 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Longueur totale de la trajectoire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12.7 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17.8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 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Indice Géométrique d’Entropie (GIE)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1.44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2.13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ctrTitle"/>
          </p:nvPr>
        </p:nvSpPr>
        <p:spPr>
          <a:xfrm>
            <a:off x="311700" y="2092200"/>
            <a:ext cx="8520600" cy="9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ctrTitle"/>
          </p:nvPr>
        </p:nvSpPr>
        <p:spPr>
          <a:xfrm>
            <a:off x="311700" y="2092200"/>
            <a:ext cx="8520600" cy="9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Ressenti sur l’ARE</a:t>
            </a:r>
            <a:endParaRPr/>
          </a:p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4" name="Google Shape;134;p24"/>
          <p:cNvSpPr txBox="1"/>
          <p:nvPr>
            <p:ph type="ctrTitle"/>
          </p:nvPr>
        </p:nvSpPr>
        <p:spPr>
          <a:xfrm>
            <a:off x="311700" y="108925"/>
            <a:ext cx="30651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/>
              <a:t>Bibliographie</a:t>
            </a:r>
            <a:endParaRPr sz="3600"/>
          </a:p>
        </p:txBody>
      </p:sp>
      <p:sp>
        <p:nvSpPr>
          <p:cNvPr id="135" name="Google Shape;135;p24"/>
          <p:cNvSpPr txBox="1"/>
          <p:nvPr>
            <p:ph idx="1" type="subTitle"/>
          </p:nvPr>
        </p:nvSpPr>
        <p:spPr>
          <a:xfrm>
            <a:off x="311700" y="1556950"/>
            <a:ext cx="8520600" cy="25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fr" sz="2000"/>
              <a:t>Legreneur, P.. Centre de gravité en performance en escalade. Université de Lyon.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fr" sz="2000"/>
              <a:t>Orth, D., Kerr, G., Davids, K., &amp; Seifert, L. (2017). Analysis of Relations between Spatiotemporal Movement Regulation and Performance of Discrete Actions Reveals Functionality in Skilled Climbing. Frontiers in Psychology.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fr" sz="2000"/>
              <a:t>Image page 1 : Cyril FRESILLON / GIPSA-lab / CNRS Images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